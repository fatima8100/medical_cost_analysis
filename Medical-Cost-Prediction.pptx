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svg" Type="http://schemas.openxmlformats.org/officeDocument/2006/relationships/image"/><Relationship Id="rId11" Target="../media/image21.png" Type="http://schemas.openxmlformats.org/officeDocument/2006/relationships/image"/><Relationship Id="rId12" Target="../media/image22.sv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2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3581248"/>
            <a:ext cx="7940573" cy="952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5500" b="true">
                <a:solidFill>
                  <a:srgbClr val="231971"/>
                </a:solidFill>
                <a:latin typeface="Arimo Bold"/>
                <a:ea typeface="Arimo Bold"/>
                <a:cs typeface="Arimo Bold"/>
                <a:sym typeface="Arimo Bold"/>
              </a:rPr>
              <a:t>Medical Cost Prediction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8" y="4854331"/>
            <a:ext cx="94455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Fatima Ahmed (509635) · Maryam Asif (507587)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50238" y="5626894"/>
            <a:ext cx="9445523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Statistical analysis of patient factors and annual healthcare expenditure (N = 5,000)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1946224"/>
            <a:ext cx="7088238" cy="952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5500" b="true">
                <a:solidFill>
                  <a:srgbClr val="231971"/>
                </a:solidFill>
                <a:latin typeface="Arimo Bold"/>
                <a:ea typeface="Arimo Bold"/>
                <a:cs typeface="Arimo Bold"/>
                <a:sym typeface="Arimo Bold"/>
              </a:rPr>
              <a:t>Problem &amp; Objectives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845476" y="3319310"/>
            <a:ext cx="4590459" cy="2569521"/>
            <a:chOff x="0" y="0"/>
            <a:chExt cx="6120613" cy="34260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" y="6350"/>
              <a:ext cx="6107811" cy="3413252"/>
            </a:xfrm>
            <a:custGeom>
              <a:avLst/>
              <a:gdLst/>
              <a:ahLst/>
              <a:cxnLst/>
              <a:rect r="r" b="b" t="t" l="l"/>
              <a:pathLst>
                <a:path h="3413252" w="6107811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5948807" y="0"/>
                  </a:lnTo>
                  <a:cubicBezTo>
                    <a:pt x="6036691" y="0"/>
                    <a:pt x="6107811" y="71120"/>
                    <a:pt x="6107811" y="158750"/>
                  </a:cubicBezTo>
                  <a:lnTo>
                    <a:pt x="6107811" y="3254502"/>
                  </a:lnTo>
                  <a:cubicBezTo>
                    <a:pt x="6107811" y="3342259"/>
                    <a:pt x="6036564" y="3413252"/>
                    <a:pt x="5948807" y="3413252"/>
                  </a:cubicBezTo>
                  <a:lnTo>
                    <a:pt x="159004" y="3413252"/>
                  </a:lnTo>
                  <a:cubicBezTo>
                    <a:pt x="71120" y="3413252"/>
                    <a:pt x="0" y="3342132"/>
                    <a:pt x="0" y="3254502"/>
                  </a:cubicBezTo>
                  <a:close/>
                </a:path>
              </a:pathLst>
            </a:custGeom>
            <a:solidFill>
              <a:srgbClr val="E9E6FA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120511" cy="3425952"/>
            </a:xfrm>
            <a:custGeom>
              <a:avLst/>
              <a:gdLst/>
              <a:ahLst/>
              <a:cxnLst/>
              <a:rect r="r" b="b" t="t" l="l"/>
              <a:pathLst>
                <a:path h="3425952" w="6120511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5955157" y="0"/>
                  </a:lnTo>
                  <a:lnTo>
                    <a:pt x="5955157" y="6350"/>
                  </a:lnTo>
                  <a:lnTo>
                    <a:pt x="5955157" y="0"/>
                  </a:lnTo>
                  <a:cubicBezTo>
                    <a:pt x="6046470" y="0"/>
                    <a:pt x="6120511" y="73914"/>
                    <a:pt x="6120511" y="165100"/>
                  </a:cubicBezTo>
                  <a:lnTo>
                    <a:pt x="6114161" y="165100"/>
                  </a:lnTo>
                  <a:lnTo>
                    <a:pt x="6120511" y="165100"/>
                  </a:lnTo>
                  <a:lnTo>
                    <a:pt x="6120511" y="3260852"/>
                  </a:lnTo>
                  <a:lnTo>
                    <a:pt x="6114161" y="3260852"/>
                  </a:lnTo>
                  <a:lnTo>
                    <a:pt x="6120511" y="3260852"/>
                  </a:lnTo>
                  <a:cubicBezTo>
                    <a:pt x="6120511" y="3352038"/>
                    <a:pt x="6046470" y="3425952"/>
                    <a:pt x="5955157" y="3425952"/>
                  </a:cubicBezTo>
                  <a:lnTo>
                    <a:pt x="5955157" y="3419602"/>
                  </a:lnTo>
                  <a:lnTo>
                    <a:pt x="5955157" y="3425952"/>
                  </a:lnTo>
                  <a:lnTo>
                    <a:pt x="165354" y="3425952"/>
                  </a:lnTo>
                  <a:lnTo>
                    <a:pt x="165354" y="3419602"/>
                  </a:lnTo>
                  <a:lnTo>
                    <a:pt x="165354" y="3425952"/>
                  </a:lnTo>
                  <a:cubicBezTo>
                    <a:pt x="74041" y="3425952"/>
                    <a:pt x="0" y="3352038"/>
                    <a:pt x="0" y="3260852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260852"/>
                  </a:lnTo>
                  <a:lnTo>
                    <a:pt x="6350" y="3260852"/>
                  </a:lnTo>
                  <a:lnTo>
                    <a:pt x="12700" y="3260852"/>
                  </a:lnTo>
                  <a:cubicBezTo>
                    <a:pt x="12700" y="3345053"/>
                    <a:pt x="81026" y="3413252"/>
                    <a:pt x="165354" y="3413252"/>
                  </a:cubicBezTo>
                  <a:lnTo>
                    <a:pt x="5955157" y="3413252"/>
                  </a:lnTo>
                  <a:cubicBezTo>
                    <a:pt x="6039485" y="3413252"/>
                    <a:pt x="6107811" y="3345053"/>
                    <a:pt x="6107811" y="3260852"/>
                  </a:cubicBezTo>
                  <a:lnTo>
                    <a:pt x="6107811" y="165100"/>
                  </a:lnTo>
                  <a:cubicBezTo>
                    <a:pt x="6107811" y="80899"/>
                    <a:pt x="6039485" y="12700"/>
                    <a:pt x="5955157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143284" y="3588544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Goal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43284" y="4125363"/>
            <a:ext cx="3994842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Explain drivers of annual medical cost; predict high‑cost profiles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709922" y="3319310"/>
            <a:ext cx="4590602" cy="2569521"/>
            <a:chOff x="0" y="0"/>
            <a:chExt cx="6120803" cy="34260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" y="6350"/>
              <a:ext cx="6108065" cy="3413252"/>
            </a:xfrm>
            <a:custGeom>
              <a:avLst/>
              <a:gdLst/>
              <a:ahLst/>
              <a:cxnLst/>
              <a:rect r="r" b="b" t="t" l="l"/>
              <a:pathLst>
                <a:path h="3413252" w="6108065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5949061" y="0"/>
                  </a:lnTo>
                  <a:cubicBezTo>
                    <a:pt x="6036945" y="0"/>
                    <a:pt x="6108065" y="71120"/>
                    <a:pt x="6108065" y="158750"/>
                  </a:cubicBezTo>
                  <a:lnTo>
                    <a:pt x="6108065" y="3254502"/>
                  </a:lnTo>
                  <a:cubicBezTo>
                    <a:pt x="6108065" y="3342259"/>
                    <a:pt x="6036818" y="3413252"/>
                    <a:pt x="5949061" y="3413252"/>
                  </a:cubicBezTo>
                  <a:lnTo>
                    <a:pt x="159004" y="3413252"/>
                  </a:lnTo>
                  <a:cubicBezTo>
                    <a:pt x="71120" y="3413252"/>
                    <a:pt x="0" y="3342132"/>
                    <a:pt x="0" y="3254502"/>
                  </a:cubicBezTo>
                  <a:close/>
                </a:path>
              </a:pathLst>
            </a:custGeom>
            <a:solidFill>
              <a:srgbClr val="E9E6FA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20765" cy="3425952"/>
            </a:xfrm>
            <a:custGeom>
              <a:avLst/>
              <a:gdLst/>
              <a:ahLst/>
              <a:cxnLst/>
              <a:rect r="r" b="b" t="t" l="l"/>
              <a:pathLst>
                <a:path h="3425952" w="6120765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5955411" y="0"/>
                  </a:lnTo>
                  <a:lnTo>
                    <a:pt x="5955411" y="6350"/>
                  </a:lnTo>
                  <a:lnTo>
                    <a:pt x="5955411" y="0"/>
                  </a:lnTo>
                  <a:cubicBezTo>
                    <a:pt x="6046724" y="0"/>
                    <a:pt x="6120765" y="73914"/>
                    <a:pt x="6120765" y="165100"/>
                  </a:cubicBezTo>
                  <a:lnTo>
                    <a:pt x="6114415" y="165100"/>
                  </a:lnTo>
                  <a:lnTo>
                    <a:pt x="6120765" y="165100"/>
                  </a:lnTo>
                  <a:lnTo>
                    <a:pt x="6120765" y="3260852"/>
                  </a:lnTo>
                  <a:lnTo>
                    <a:pt x="6114415" y="3260852"/>
                  </a:lnTo>
                  <a:lnTo>
                    <a:pt x="6120765" y="3260852"/>
                  </a:lnTo>
                  <a:cubicBezTo>
                    <a:pt x="6120765" y="3352038"/>
                    <a:pt x="6046724" y="3425952"/>
                    <a:pt x="5955411" y="3425952"/>
                  </a:cubicBezTo>
                  <a:lnTo>
                    <a:pt x="5955411" y="3419602"/>
                  </a:lnTo>
                  <a:lnTo>
                    <a:pt x="5955411" y="3425952"/>
                  </a:lnTo>
                  <a:lnTo>
                    <a:pt x="165354" y="3425952"/>
                  </a:lnTo>
                  <a:lnTo>
                    <a:pt x="165354" y="3419602"/>
                  </a:lnTo>
                  <a:lnTo>
                    <a:pt x="165354" y="3425952"/>
                  </a:lnTo>
                  <a:cubicBezTo>
                    <a:pt x="74041" y="3425952"/>
                    <a:pt x="0" y="3352038"/>
                    <a:pt x="0" y="3260852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260852"/>
                  </a:lnTo>
                  <a:lnTo>
                    <a:pt x="6350" y="3260852"/>
                  </a:lnTo>
                  <a:lnTo>
                    <a:pt x="12700" y="3260852"/>
                  </a:lnTo>
                  <a:cubicBezTo>
                    <a:pt x="12700" y="3345053"/>
                    <a:pt x="81026" y="3413252"/>
                    <a:pt x="165354" y="3413252"/>
                  </a:cubicBezTo>
                  <a:lnTo>
                    <a:pt x="5955411" y="3413252"/>
                  </a:lnTo>
                  <a:cubicBezTo>
                    <a:pt x="6039739" y="3413252"/>
                    <a:pt x="6108065" y="3345053"/>
                    <a:pt x="6108065" y="3260852"/>
                  </a:cubicBezTo>
                  <a:lnTo>
                    <a:pt x="6108065" y="165100"/>
                  </a:lnTo>
                  <a:cubicBezTo>
                    <a:pt x="6108065" y="80899"/>
                    <a:pt x="6039739" y="12700"/>
                    <a:pt x="5955411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007731" y="3588544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Data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07731" y="4125363"/>
            <a:ext cx="3994995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5,000 patients, 20 variables (demographic, clinical, lifestyle, financial)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845476" y="6162827"/>
            <a:ext cx="9455048" cy="2115893"/>
            <a:chOff x="0" y="0"/>
            <a:chExt cx="12606731" cy="28211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" y="6350"/>
              <a:ext cx="12594082" cy="2808478"/>
            </a:xfrm>
            <a:custGeom>
              <a:avLst/>
              <a:gdLst/>
              <a:ahLst/>
              <a:cxnLst/>
              <a:rect r="r" b="b" t="t" l="l"/>
              <a:pathLst>
                <a:path h="2808478" w="12594082">
                  <a:moveTo>
                    <a:pt x="0" y="158750"/>
                  </a:moveTo>
                  <a:cubicBezTo>
                    <a:pt x="0" y="71120"/>
                    <a:pt x="71374" y="0"/>
                    <a:pt x="159385" y="0"/>
                  </a:cubicBezTo>
                  <a:lnTo>
                    <a:pt x="12434697" y="0"/>
                  </a:lnTo>
                  <a:cubicBezTo>
                    <a:pt x="12522708" y="0"/>
                    <a:pt x="12594082" y="71120"/>
                    <a:pt x="12594082" y="158750"/>
                  </a:cubicBezTo>
                  <a:lnTo>
                    <a:pt x="12594082" y="2649728"/>
                  </a:lnTo>
                  <a:cubicBezTo>
                    <a:pt x="12594082" y="2737485"/>
                    <a:pt x="12522708" y="2808478"/>
                    <a:pt x="12434697" y="2808478"/>
                  </a:cubicBezTo>
                  <a:lnTo>
                    <a:pt x="159385" y="2808478"/>
                  </a:lnTo>
                  <a:cubicBezTo>
                    <a:pt x="71374" y="2808478"/>
                    <a:pt x="0" y="2737358"/>
                    <a:pt x="0" y="2649728"/>
                  </a:cubicBezTo>
                  <a:close/>
                </a:path>
              </a:pathLst>
            </a:custGeom>
            <a:solidFill>
              <a:srgbClr val="E9E6FA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606782" cy="2821178"/>
            </a:xfrm>
            <a:custGeom>
              <a:avLst/>
              <a:gdLst/>
              <a:ahLst/>
              <a:cxnLst/>
              <a:rect r="r" b="b" t="t" l="l"/>
              <a:pathLst>
                <a:path h="2821178" w="12606782">
                  <a:moveTo>
                    <a:pt x="0" y="165100"/>
                  </a:moveTo>
                  <a:cubicBezTo>
                    <a:pt x="0" y="73914"/>
                    <a:pt x="74168" y="0"/>
                    <a:pt x="165735" y="0"/>
                  </a:cubicBezTo>
                  <a:lnTo>
                    <a:pt x="12441047" y="0"/>
                  </a:lnTo>
                  <a:lnTo>
                    <a:pt x="12441047" y="6350"/>
                  </a:lnTo>
                  <a:lnTo>
                    <a:pt x="12441047" y="0"/>
                  </a:lnTo>
                  <a:cubicBezTo>
                    <a:pt x="12532487" y="0"/>
                    <a:pt x="12606782" y="73914"/>
                    <a:pt x="12606782" y="165100"/>
                  </a:cubicBezTo>
                  <a:lnTo>
                    <a:pt x="12600432" y="165100"/>
                  </a:lnTo>
                  <a:lnTo>
                    <a:pt x="12606782" y="165100"/>
                  </a:lnTo>
                  <a:lnTo>
                    <a:pt x="12606782" y="2656078"/>
                  </a:lnTo>
                  <a:lnTo>
                    <a:pt x="12600432" y="2656078"/>
                  </a:lnTo>
                  <a:lnTo>
                    <a:pt x="12606782" y="2656078"/>
                  </a:lnTo>
                  <a:cubicBezTo>
                    <a:pt x="12606782" y="2747264"/>
                    <a:pt x="12532614" y="2821178"/>
                    <a:pt x="12441047" y="2821178"/>
                  </a:cubicBezTo>
                  <a:lnTo>
                    <a:pt x="12441047" y="2814828"/>
                  </a:lnTo>
                  <a:lnTo>
                    <a:pt x="12441047" y="2821178"/>
                  </a:lnTo>
                  <a:lnTo>
                    <a:pt x="165735" y="2821178"/>
                  </a:lnTo>
                  <a:lnTo>
                    <a:pt x="165735" y="2814828"/>
                  </a:lnTo>
                  <a:lnTo>
                    <a:pt x="165735" y="2821178"/>
                  </a:lnTo>
                  <a:cubicBezTo>
                    <a:pt x="74295" y="2821178"/>
                    <a:pt x="0" y="2747264"/>
                    <a:pt x="0" y="265607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656078"/>
                  </a:lnTo>
                  <a:lnTo>
                    <a:pt x="6350" y="2656078"/>
                  </a:lnTo>
                  <a:lnTo>
                    <a:pt x="12700" y="2656078"/>
                  </a:lnTo>
                  <a:cubicBezTo>
                    <a:pt x="12700" y="2740279"/>
                    <a:pt x="81153" y="2808478"/>
                    <a:pt x="165735" y="2808478"/>
                  </a:cubicBezTo>
                  <a:lnTo>
                    <a:pt x="12441047" y="2808478"/>
                  </a:lnTo>
                  <a:cubicBezTo>
                    <a:pt x="12525628" y="2808478"/>
                    <a:pt x="12594082" y="2740152"/>
                    <a:pt x="12594082" y="2656078"/>
                  </a:cubicBezTo>
                  <a:lnTo>
                    <a:pt x="12594082" y="165100"/>
                  </a:lnTo>
                  <a:cubicBezTo>
                    <a:pt x="12594082" y="80899"/>
                    <a:pt x="12525628" y="12700"/>
                    <a:pt x="12441047" y="12700"/>
                  </a:cubicBezTo>
                  <a:lnTo>
                    <a:pt x="165735" y="12700"/>
                  </a:lnTo>
                  <a:lnTo>
                    <a:pt x="165735" y="6350"/>
                  </a:lnTo>
                  <a:lnTo>
                    <a:pt x="165735" y="12700"/>
                  </a:lnTo>
                  <a:cubicBezTo>
                    <a:pt x="81153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8143284" y="6432052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Key Objectives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143284" y="6968881"/>
            <a:ext cx="8859441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Distribution fitting; ANOVA; Multiple regression on log-cost; Nonparametric validation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372173"/>
            <a:ext cx="7088238" cy="952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5500" b="true">
                <a:solidFill>
                  <a:srgbClr val="231971"/>
                </a:solidFill>
                <a:latin typeface="Arimo Bold"/>
                <a:ea typeface="Arimo Bold"/>
                <a:cs typeface="Arimo Bold"/>
                <a:sym typeface="Arimo Bold"/>
              </a:rPr>
              <a:t>Dataset &amp; Quality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4068956"/>
            <a:ext cx="6106268" cy="3460109"/>
            <a:chOff x="0" y="0"/>
            <a:chExt cx="8141691" cy="461347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8141716" cy="4613529"/>
            </a:xfrm>
            <a:custGeom>
              <a:avLst/>
              <a:gdLst/>
              <a:ahLst/>
              <a:cxnLst/>
              <a:rect r="r" b="b" t="t" l="l"/>
              <a:pathLst>
                <a:path h="4613529" w="8141716">
                  <a:moveTo>
                    <a:pt x="0" y="0"/>
                  </a:moveTo>
                  <a:lnTo>
                    <a:pt x="8141716" y="0"/>
                  </a:lnTo>
                  <a:lnTo>
                    <a:pt x="8141716" y="4613529"/>
                  </a:lnTo>
                  <a:lnTo>
                    <a:pt x="0" y="46135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0" t="0" r="-30" b="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7799784" y="4216603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231971"/>
                </a:solidFill>
                <a:latin typeface="Arimo Bold"/>
                <a:ea typeface="Arimo Bold"/>
                <a:cs typeface="Arimo Bold"/>
                <a:sym typeface="Arimo Bold"/>
              </a:rPr>
              <a:t>Highlights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99784" y="4866827"/>
            <a:ext cx="9505350" cy="2670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3500"/>
              </a:lnSpc>
              <a:buFont typeface="Arial"/>
              <a:buChar char="•"/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5,000 records; 20 features; no missing values, no duplicates</a:t>
            </a:r>
          </a:p>
          <a:p>
            <a:pPr algn="l" marL="530860" indent="-265430" lvl="1">
              <a:lnSpc>
                <a:spcPts val="3500"/>
              </a:lnSpc>
              <a:buFont typeface="Arial"/>
              <a:buChar char="•"/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Target: annual_medical_cost (USD)</a:t>
            </a:r>
          </a:p>
          <a:p>
            <a:pPr algn="l" marL="530860" indent="-265430" lvl="1">
              <a:lnSpc>
                <a:spcPts val="3500"/>
              </a:lnSpc>
              <a:buFont typeface="Arial"/>
              <a:buChar char="•"/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Key categorical: smoker, insurance_type, physical_activity_level, city_type</a:t>
            </a:r>
          </a:p>
          <a:p>
            <a:pPr algn="l" marL="530860" indent="-265430" lvl="1">
              <a:lnSpc>
                <a:spcPts val="3500"/>
              </a:lnSpc>
              <a:buFont typeface="Arial"/>
              <a:buChar char="•"/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Log-transform applied to cost (right-skewed)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909735"/>
            <a:ext cx="7088238" cy="952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5500" b="true">
                <a:solidFill>
                  <a:srgbClr val="231971"/>
                </a:solidFill>
                <a:latin typeface="Arimo Bold"/>
                <a:ea typeface="Arimo Bold"/>
                <a:cs typeface="Arimo Bold"/>
                <a:sym typeface="Arimo Bold"/>
              </a:rPr>
              <a:t>Exploratory Findings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4429420"/>
            <a:ext cx="1507484" cy="931659"/>
            <a:chOff x="0" y="0"/>
            <a:chExt cx="2009978" cy="124221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010029" cy="1242187"/>
            </a:xfrm>
            <a:custGeom>
              <a:avLst/>
              <a:gdLst/>
              <a:ahLst/>
              <a:cxnLst/>
              <a:rect r="r" b="b" t="t" l="l"/>
              <a:pathLst>
                <a:path h="1242187" w="2010029">
                  <a:moveTo>
                    <a:pt x="0" y="0"/>
                  </a:moveTo>
                  <a:lnTo>
                    <a:pt x="2010029" y="0"/>
                  </a:lnTo>
                  <a:lnTo>
                    <a:pt x="2010029" y="1242187"/>
                  </a:lnTo>
                  <a:lnTo>
                    <a:pt x="0" y="1242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79" r="2" b="-183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854081" y="4400845"/>
            <a:ext cx="3336427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Distribution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4081" y="4937674"/>
            <a:ext cx="3336427" cy="1919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Cost highly right-skewed; wide variance (mean ≈ $8,048.89, SD ≈ $7,071.02)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44866" y="4429420"/>
            <a:ext cx="1507484" cy="931659"/>
            <a:chOff x="0" y="0"/>
            <a:chExt cx="2009978" cy="1242212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2010029" cy="1242187"/>
            </a:xfrm>
            <a:custGeom>
              <a:avLst/>
              <a:gdLst/>
              <a:ahLst/>
              <a:cxnLst/>
              <a:rect r="r" b="b" t="t" l="l"/>
              <a:pathLst>
                <a:path h="1242187" w="2010029">
                  <a:moveTo>
                    <a:pt x="0" y="0"/>
                  </a:moveTo>
                  <a:lnTo>
                    <a:pt x="2010029" y="0"/>
                  </a:lnTo>
                  <a:lnTo>
                    <a:pt x="2010029" y="1242187"/>
                  </a:lnTo>
                  <a:lnTo>
                    <a:pt x="0" y="1242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79" r="2" b="-183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406708" y="4400845"/>
            <a:ext cx="3336427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Smokers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406708" y="4937674"/>
            <a:ext cx="3336427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Higher median and IQR for smokers (visual + Mann-Whitney result)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097493" y="4429420"/>
            <a:ext cx="1507484" cy="931659"/>
            <a:chOff x="0" y="0"/>
            <a:chExt cx="2009978" cy="1242212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2010029" cy="1242187"/>
            </a:xfrm>
            <a:custGeom>
              <a:avLst/>
              <a:gdLst/>
              <a:ahLst/>
              <a:cxnLst/>
              <a:rect r="r" b="b" t="t" l="l"/>
              <a:pathLst>
                <a:path h="1242187" w="2010029">
                  <a:moveTo>
                    <a:pt x="0" y="0"/>
                  </a:moveTo>
                  <a:lnTo>
                    <a:pt x="2010029" y="0"/>
                  </a:lnTo>
                  <a:lnTo>
                    <a:pt x="2010029" y="1242187"/>
                  </a:lnTo>
                  <a:lnTo>
                    <a:pt x="0" y="1242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79" r="2" b="-183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959335" y="4400845"/>
            <a:ext cx="3336427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Correlations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959335" y="4937674"/>
            <a:ext cx="3336427" cy="2372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Hospital admissions, medication count, previous year cost ↑ strongest positive correlations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168298"/>
            <a:ext cx="8827141" cy="952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5500" b="true">
                <a:solidFill>
                  <a:srgbClr val="231971"/>
                </a:solidFill>
                <a:latin typeface="Arimo Bold"/>
                <a:ea typeface="Arimo Bold"/>
                <a:cs typeface="Arimo Bold"/>
                <a:sym typeface="Arimo Bold"/>
              </a:rPr>
              <a:t>ANOVA Group Differences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2865091"/>
            <a:ext cx="10355161" cy="5867848"/>
            <a:chOff x="0" y="0"/>
            <a:chExt cx="13806881" cy="7823797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3806932" cy="7823835"/>
            </a:xfrm>
            <a:custGeom>
              <a:avLst/>
              <a:gdLst/>
              <a:ahLst/>
              <a:cxnLst/>
              <a:rect r="r" b="b" t="t" l="l"/>
              <a:pathLst>
                <a:path h="7823835" w="13806932">
                  <a:moveTo>
                    <a:pt x="0" y="0"/>
                  </a:moveTo>
                  <a:lnTo>
                    <a:pt x="13806932" y="0"/>
                  </a:lnTo>
                  <a:lnTo>
                    <a:pt x="13806932" y="7823835"/>
                  </a:lnTo>
                  <a:lnTo>
                    <a:pt x="0" y="7823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" r="0" b="-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048677" y="4009130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231971"/>
                </a:solidFill>
                <a:latin typeface="Arimo Bold"/>
                <a:ea typeface="Arimo Bold"/>
                <a:cs typeface="Arimo Bold"/>
                <a:sym typeface="Arimo Bold"/>
              </a:rPr>
              <a:t>One‑Way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48677" y="4659363"/>
            <a:ext cx="5256457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Insurance type → significant differences in mean cost (ANOVA F, p &lt; 0.05)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48677" y="5926331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231971"/>
                </a:solidFill>
                <a:latin typeface="Arimo Bold"/>
                <a:ea typeface="Arimo Bold"/>
                <a:cs typeface="Arimo Bold"/>
                <a:sym typeface="Arimo Bold"/>
              </a:rPr>
              <a:t>Two‑Way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48677" y="6576565"/>
            <a:ext cx="5256457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Insurance × Physical Activity interaction significant (p &lt; 0.001)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113207" y="535629"/>
            <a:ext cx="5094684" cy="674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4000" b="true">
                <a:solidFill>
                  <a:srgbClr val="231971"/>
                </a:solidFill>
                <a:latin typeface="Arimo Bold"/>
                <a:ea typeface="Arimo Bold"/>
                <a:cs typeface="Arimo Bold"/>
                <a:sym typeface="Arimo Bold"/>
              </a:rPr>
              <a:t>Distribution Fitting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113207" y="2180634"/>
            <a:ext cx="6782095" cy="6782095"/>
            <a:chOff x="0" y="0"/>
            <a:chExt cx="9042794" cy="9042794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9042781" cy="9042781"/>
            </a:xfrm>
            <a:custGeom>
              <a:avLst/>
              <a:gdLst/>
              <a:ahLst/>
              <a:cxnLst/>
              <a:rect r="r" b="b" t="t" l="l"/>
              <a:pathLst>
                <a:path h="9042781" w="9042781">
                  <a:moveTo>
                    <a:pt x="0" y="0"/>
                  </a:moveTo>
                  <a:lnTo>
                    <a:pt x="9042781" y="0"/>
                  </a:lnTo>
                  <a:lnTo>
                    <a:pt x="9042781" y="9042781"/>
                  </a:lnTo>
                  <a:lnTo>
                    <a:pt x="0" y="90427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2113207" y="2180634"/>
            <a:ext cx="6782095" cy="6782095"/>
            <a:chOff x="0" y="0"/>
            <a:chExt cx="9042794" cy="9042794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9042781" cy="9042781"/>
            </a:xfrm>
            <a:custGeom>
              <a:avLst/>
              <a:gdLst/>
              <a:ahLst/>
              <a:cxnLst/>
              <a:rect r="r" b="b" t="t" l="l"/>
              <a:pathLst>
                <a:path h="9042781" w="9042781">
                  <a:moveTo>
                    <a:pt x="0" y="0"/>
                  </a:moveTo>
                  <a:lnTo>
                    <a:pt x="9042781" y="0"/>
                  </a:lnTo>
                  <a:lnTo>
                    <a:pt x="9042781" y="9042781"/>
                  </a:lnTo>
                  <a:lnTo>
                    <a:pt x="0" y="90427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401918" y="1557490"/>
            <a:ext cx="2547337" cy="337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231971"/>
                </a:solidFill>
                <a:latin typeface="Arimo Bold"/>
                <a:ea typeface="Arimo Bold"/>
                <a:cs typeface="Arimo Bold"/>
                <a:sym typeface="Arimo Bold"/>
              </a:rPr>
              <a:t>Key Result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01918" y="1993849"/>
            <a:ext cx="6782095" cy="607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16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Log‑Normal best fit by AIC (AIC = 98,991.7). Implication: multiplicative cost process → use log-scale actuarial assumptions.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401918" y="2766422"/>
            <a:ext cx="6782095" cy="6782095"/>
            <a:chOff x="0" y="0"/>
            <a:chExt cx="9042794" cy="9042794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9042781" cy="9042781"/>
            </a:xfrm>
            <a:custGeom>
              <a:avLst/>
              <a:gdLst/>
              <a:ahLst/>
              <a:cxnLst/>
              <a:rect r="r" b="b" t="t" l="l"/>
              <a:pathLst>
                <a:path h="9042781" w="9042781">
                  <a:moveTo>
                    <a:pt x="0" y="0"/>
                  </a:moveTo>
                  <a:lnTo>
                    <a:pt x="9042781" y="0"/>
                  </a:lnTo>
                  <a:lnTo>
                    <a:pt x="9042781" y="9042781"/>
                  </a:lnTo>
                  <a:lnTo>
                    <a:pt x="0" y="90427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48978" y="666598"/>
            <a:ext cx="7812434" cy="753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400" b="true">
                <a:solidFill>
                  <a:srgbClr val="231971"/>
                </a:solidFill>
                <a:latin typeface="Arimo Bold"/>
                <a:ea typeface="Arimo Bold"/>
                <a:cs typeface="Arimo Bold"/>
                <a:sym typeface="Arimo Bold"/>
              </a:rPr>
              <a:t>Multiple Regression (log-cost)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48978" y="2814933"/>
            <a:ext cx="9940376" cy="5632847"/>
            <a:chOff x="0" y="0"/>
            <a:chExt cx="13253834" cy="751046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3253847" cy="7510399"/>
            </a:xfrm>
            <a:custGeom>
              <a:avLst/>
              <a:gdLst/>
              <a:ahLst/>
              <a:cxnLst/>
              <a:rect r="r" b="b" t="t" l="l"/>
              <a:pathLst>
                <a:path h="7510399" w="13253847">
                  <a:moveTo>
                    <a:pt x="0" y="0"/>
                  </a:moveTo>
                  <a:lnTo>
                    <a:pt x="13253847" y="0"/>
                  </a:lnTo>
                  <a:lnTo>
                    <a:pt x="13253847" y="7510399"/>
                  </a:lnTo>
                  <a:lnTo>
                    <a:pt x="0" y="7510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0" t="0" r="-5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845376" y="1887731"/>
            <a:ext cx="5107638" cy="1662855"/>
            <a:chOff x="0" y="0"/>
            <a:chExt cx="6810184" cy="221714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" y="6350"/>
              <a:ext cx="6797421" cy="2204339"/>
            </a:xfrm>
            <a:custGeom>
              <a:avLst/>
              <a:gdLst/>
              <a:ahLst/>
              <a:cxnLst/>
              <a:rect r="r" b="b" t="t" l="l"/>
              <a:pathLst>
                <a:path h="2204339" w="6797421">
                  <a:moveTo>
                    <a:pt x="0" y="126492"/>
                  </a:moveTo>
                  <a:cubicBezTo>
                    <a:pt x="0" y="56642"/>
                    <a:pt x="56896" y="0"/>
                    <a:pt x="127000" y="0"/>
                  </a:cubicBezTo>
                  <a:lnTo>
                    <a:pt x="6670421" y="0"/>
                  </a:lnTo>
                  <a:cubicBezTo>
                    <a:pt x="6740525" y="0"/>
                    <a:pt x="6797421" y="56642"/>
                    <a:pt x="6797421" y="126492"/>
                  </a:cubicBezTo>
                  <a:lnTo>
                    <a:pt x="6797421" y="2077847"/>
                  </a:lnTo>
                  <a:cubicBezTo>
                    <a:pt x="6797421" y="2147697"/>
                    <a:pt x="6740525" y="2204339"/>
                    <a:pt x="6670421" y="2204339"/>
                  </a:cubicBezTo>
                  <a:lnTo>
                    <a:pt x="127000" y="2204339"/>
                  </a:lnTo>
                  <a:cubicBezTo>
                    <a:pt x="56896" y="2204339"/>
                    <a:pt x="0" y="2147697"/>
                    <a:pt x="0" y="2077847"/>
                  </a:cubicBezTo>
                  <a:close/>
                </a:path>
              </a:pathLst>
            </a:custGeom>
            <a:solidFill>
              <a:srgbClr val="E9E6FA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10121" cy="2217039"/>
            </a:xfrm>
            <a:custGeom>
              <a:avLst/>
              <a:gdLst/>
              <a:ahLst/>
              <a:cxnLst/>
              <a:rect r="r" b="b" t="t" l="l"/>
              <a:pathLst>
                <a:path h="2217039" w="6810121">
                  <a:moveTo>
                    <a:pt x="0" y="132842"/>
                  </a:moveTo>
                  <a:cubicBezTo>
                    <a:pt x="0" y="59436"/>
                    <a:pt x="59690" y="0"/>
                    <a:pt x="133350" y="0"/>
                  </a:cubicBezTo>
                  <a:lnTo>
                    <a:pt x="6676771" y="0"/>
                  </a:lnTo>
                  <a:lnTo>
                    <a:pt x="6676771" y="6350"/>
                  </a:lnTo>
                  <a:lnTo>
                    <a:pt x="6676771" y="0"/>
                  </a:lnTo>
                  <a:cubicBezTo>
                    <a:pt x="6750431" y="0"/>
                    <a:pt x="6810121" y="59436"/>
                    <a:pt x="6810121" y="132842"/>
                  </a:cubicBezTo>
                  <a:lnTo>
                    <a:pt x="6803771" y="132842"/>
                  </a:lnTo>
                  <a:lnTo>
                    <a:pt x="6810121" y="132842"/>
                  </a:lnTo>
                  <a:lnTo>
                    <a:pt x="6810121" y="2084197"/>
                  </a:lnTo>
                  <a:lnTo>
                    <a:pt x="6803771" y="2084197"/>
                  </a:lnTo>
                  <a:lnTo>
                    <a:pt x="6810121" y="2084197"/>
                  </a:lnTo>
                  <a:cubicBezTo>
                    <a:pt x="6810121" y="2157603"/>
                    <a:pt x="6750431" y="2217039"/>
                    <a:pt x="6676771" y="2217039"/>
                  </a:cubicBezTo>
                  <a:lnTo>
                    <a:pt x="6676771" y="2210689"/>
                  </a:lnTo>
                  <a:lnTo>
                    <a:pt x="6676771" y="2217039"/>
                  </a:lnTo>
                  <a:lnTo>
                    <a:pt x="133350" y="2217039"/>
                  </a:lnTo>
                  <a:lnTo>
                    <a:pt x="133350" y="2210689"/>
                  </a:lnTo>
                  <a:lnTo>
                    <a:pt x="133350" y="2217039"/>
                  </a:lnTo>
                  <a:cubicBezTo>
                    <a:pt x="59690" y="2217166"/>
                    <a:pt x="0" y="2157730"/>
                    <a:pt x="0" y="2084197"/>
                  </a:cubicBezTo>
                  <a:lnTo>
                    <a:pt x="0" y="132842"/>
                  </a:lnTo>
                  <a:lnTo>
                    <a:pt x="6350" y="132842"/>
                  </a:lnTo>
                  <a:lnTo>
                    <a:pt x="0" y="132842"/>
                  </a:lnTo>
                  <a:moveTo>
                    <a:pt x="12700" y="132842"/>
                  </a:moveTo>
                  <a:lnTo>
                    <a:pt x="12700" y="2084197"/>
                  </a:lnTo>
                  <a:lnTo>
                    <a:pt x="6350" y="2084197"/>
                  </a:lnTo>
                  <a:lnTo>
                    <a:pt x="12700" y="2084197"/>
                  </a:lnTo>
                  <a:cubicBezTo>
                    <a:pt x="12700" y="2150491"/>
                    <a:pt x="66675" y="2204339"/>
                    <a:pt x="133350" y="2204339"/>
                  </a:cubicBezTo>
                  <a:lnTo>
                    <a:pt x="6676771" y="2204339"/>
                  </a:lnTo>
                  <a:cubicBezTo>
                    <a:pt x="6743446" y="2204339"/>
                    <a:pt x="6797421" y="2150491"/>
                    <a:pt x="6797421" y="2084197"/>
                  </a:cubicBezTo>
                  <a:lnTo>
                    <a:pt x="6797421" y="132842"/>
                  </a:lnTo>
                  <a:cubicBezTo>
                    <a:pt x="6797421" y="66548"/>
                    <a:pt x="6743446" y="12700"/>
                    <a:pt x="6676771" y="12700"/>
                  </a:cubicBezTo>
                  <a:lnTo>
                    <a:pt x="133350" y="12700"/>
                  </a:lnTo>
                  <a:lnTo>
                    <a:pt x="133350" y="6350"/>
                  </a:lnTo>
                  <a:lnTo>
                    <a:pt x="133350" y="12700"/>
                  </a:lnTo>
                  <a:cubicBezTo>
                    <a:pt x="66675" y="12700"/>
                    <a:pt x="12700" y="66548"/>
                    <a:pt x="12700" y="132842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085587" y="2099367"/>
            <a:ext cx="2824162" cy="381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0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Model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85587" y="2603744"/>
            <a:ext cx="4627216" cy="706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17 predictors on log(1 + annual_medical_cost)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845376" y="3720998"/>
            <a:ext cx="5107638" cy="1662855"/>
            <a:chOff x="0" y="0"/>
            <a:chExt cx="6810184" cy="22171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" y="6350"/>
              <a:ext cx="6797421" cy="2204339"/>
            </a:xfrm>
            <a:custGeom>
              <a:avLst/>
              <a:gdLst/>
              <a:ahLst/>
              <a:cxnLst/>
              <a:rect r="r" b="b" t="t" l="l"/>
              <a:pathLst>
                <a:path h="2204339" w="6797421">
                  <a:moveTo>
                    <a:pt x="0" y="126492"/>
                  </a:moveTo>
                  <a:cubicBezTo>
                    <a:pt x="0" y="56642"/>
                    <a:pt x="56896" y="0"/>
                    <a:pt x="127000" y="0"/>
                  </a:cubicBezTo>
                  <a:lnTo>
                    <a:pt x="6670421" y="0"/>
                  </a:lnTo>
                  <a:cubicBezTo>
                    <a:pt x="6740525" y="0"/>
                    <a:pt x="6797421" y="56642"/>
                    <a:pt x="6797421" y="126492"/>
                  </a:cubicBezTo>
                  <a:lnTo>
                    <a:pt x="6797421" y="2077847"/>
                  </a:lnTo>
                  <a:cubicBezTo>
                    <a:pt x="6797421" y="2147697"/>
                    <a:pt x="6740525" y="2204339"/>
                    <a:pt x="6670421" y="2204339"/>
                  </a:cubicBezTo>
                  <a:lnTo>
                    <a:pt x="127000" y="2204339"/>
                  </a:lnTo>
                  <a:cubicBezTo>
                    <a:pt x="56896" y="2204339"/>
                    <a:pt x="0" y="2147697"/>
                    <a:pt x="0" y="2077847"/>
                  </a:cubicBezTo>
                  <a:close/>
                </a:path>
              </a:pathLst>
            </a:custGeom>
            <a:solidFill>
              <a:srgbClr val="E9E6FA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10121" cy="2217039"/>
            </a:xfrm>
            <a:custGeom>
              <a:avLst/>
              <a:gdLst/>
              <a:ahLst/>
              <a:cxnLst/>
              <a:rect r="r" b="b" t="t" l="l"/>
              <a:pathLst>
                <a:path h="2217039" w="6810121">
                  <a:moveTo>
                    <a:pt x="0" y="132842"/>
                  </a:moveTo>
                  <a:cubicBezTo>
                    <a:pt x="0" y="59436"/>
                    <a:pt x="59690" y="0"/>
                    <a:pt x="133350" y="0"/>
                  </a:cubicBezTo>
                  <a:lnTo>
                    <a:pt x="6676771" y="0"/>
                  </a:lnTo>
                  <a:lnTo>
                    <a:pt x="6676771" y="6350"/>
                  </a:lnTo>
                  <a:lnTo>
                    <a:pt x="6676771" y="0"/>
                  </a:lnTo>
                  <a:cubicBezTo>
                    <a:pt x="6750431" y="0"/>
                    <a:pt x="6810121" y="59436"/>
                    <a:pt x="6810121" y="132842"/>
                  </a:cubicBezTo>
                  <a:lnTo>
                    <a:pt x="6803771" y="132842"/>
                  </a:lnTo>
                  <a:lnTo>
                    <a:pt x="6810121" y="132842"/>
                  </a:lnTo>
                  <a:lnTo>
                    <a:pt x="6810121" y="2084197"/>
                  </a:lnTo>
                  <a:lnTo>
                    <a:pt x="6803771" y="2084197"/>
                  </a:lnTo>
                  <a:lnTo>
                    <a:pt x="6810121" y="2084197"/>
                  </a:lnTo>
                  <a:cubicBezTo>
                    <a:pt x="6810121" y="2157603"/>
                    <a:pt x="6750431" y="2217039"/>
                    <a:pt x="6676771" y="2217039"/>
                  </a:cubicBezTo>
                  <a:lnTo>
                    <a:pt x="6676771" y="2210689"/>
                  </a:lnTo>
                  <a:lnTo>
                    <a:pt x="6676771" y="2217039"/>
                  </a:lnTo>
                  <a:lnTo>
                    <a:pt x="133350" y="2217039"/>
                  </a:lnTo>
                  <a:lnTo>
                    <a:pt x="133350" y="2210689"/>
                  </a:lnTo>
                  <a:lnTo>
                    <a:pt x="133350" y="2217039"/>
                  </a:lnTo>
                  <a:cubicBezTo>
                    <a:pt x="59690" y="2217166"/>
                    <a:pt x="0" y="2157730"/>
                    <a:pt x="0" y="2084197"/>
                  </a:cubicBezTo>
                  <a:lnTo>
                    <a:pt x="0" y="132842"/>
                  </a:lnTo>
                  <a:lnTo>
                    <a:pt x="6350" y="132842"/>
                  </a:lnTo>
                  <a:lnTo>
                    <a:pt x="0" y="132842"/>
                  </a:lnTo>
                  <a:moveTo>
                    <a:pt x="12700" y="132842"/>
                  </a:moveTo>
                  <a:lnTo>
                    <a:pt x="12700" y="2084197"/>
                  </a:lnTo>
                  <a:lnTo>
                    <a:pt x="6350" y="2084197"/>
                  </a:lnTo>
                  <a:lnTo>
                    <a:pt x="12700" y="2084197"/>
                  </a:lnTo>
                  <a:cubicBezTo>
                    <a:pt x="12700" y="2150491"/>
                    <a:pt x="66675" y="2204339"/>
                    <a:pt x="133350" y="2204339"/>
                  </a:cubicBezTo>
                  <a:lnTo>
                    <a:pt x="6676771" y="2204339"/>
                  </a:lnTo>
                  <a:cubicBezTo>
                    <a:pt x="6743446" y="2204339"/>
                    <a:pt x="6797421" y="2150491"/>
                    <a:pt x="6797421" y="2084197"/>
                  </a:cubicBezTo>
                  <a:lnTo>
                    <a:pt x="6797421" y="132842"/>
                  </a:lnTo>
                  <a:cubicBezTo>
                    <a:pt x="6797421" y="66548"/>
                    <a:pt x="6743446" y="12700"/>
                    <a:pt x="6676771" y="12700"/>
                  </a:cubicBezTo>
                  <a:lnTo>
                    <a:pt x="133350" y="12700"/>
                  </a:lnTo>
                  <a:lnTo>
                    <a:pt x="133350" y="6350"/>
                  </a:lnTo>
                  <a:lnTo>
                    <a:pt x="133350" y="12700"/>
                  </a:lnTo>
                  <a:cubicBezTo>
                    <a:pt x="66675" y="12700"/>
                    <a:pt x="12700" y="66548"/>
                    <a:pt x="12700" y="132842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085587" y="3932634"/>
            <a:ext cx="2824162" cy="381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0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Performance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85587" y="4437012"/>
            <a:ext cx="4627216" cy="706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R² ≈ 0.8925; Adjusted R² reported (strong explanatory power)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845376" y="5554266"/>
            <a:ext cx="5107638" cy="1987601"/>
            <a:chOff x="0" y="0"/>
            <a:chExt cx="6810184" cy="26501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" y="6350"/>
              <a:ext cx="6797421" cy="2637409"/>
            </a:xfrm>
            <a:custGeom>
              <a:avLst/>
              <a:gdLst/>
              <a:ahLst/>
              <a:cxnLst/>
              <a:rect r="r" b="b" t="t" l="l"/>
              <a:pathLst>
                <a:path h="2637409" w="6797421">
                  <a:moveTo>
                    <a:pt x="0" y="126492"/>
                  </a:moveTo>
                  <a:cubicBezTo>
                    <a:pt x="0" y="56642"/>
                    <a:pt x="56769" y="0"/>
                    <a:pt x="126873" y="0"/>
                  </a:cubicBezTo>
                  <a:lnTo>
                    <a:pt x="6670548" y="0"/>
                  </a:lnTo>
                  <a:cubicBezTo>
                    <a:pt x="6740652" y="0"/>
                    <a:pt x="6797421" y="56642"/>
                    <a:pt x="6797421" y="126492"/>
                  </a:cubicBezTo>
                  <a:lnTo>
                    <a:pt x="6797421" y="2510917"/>
                  </a:lnTo>
                  <a:cubicBezTo>
                    <a:pt x="6797421" y="2580767"/>
                    <a:pt x="6740652" y="2637409"/>
                    <a:pt x="6670548" y="2637409"/>
                  </a:cubicBezTo>
                  <a:lnTo>
                    <a:pt x="126873" y="2637409"/>
                  </a:lnTo>
                  <a:cubicBezTo>
                    <a:pt x="56769" y="2637409"/>
                    <a:pt x="0" y="2580767"/>
                    <a:pt x="0" y="2510917"/>
                  </a:cubicBezTo>
                  <a:close/>
                </a:path>
              </a:pathLst>
            </a:custGeom>
            <a:solidFill>
              <a:srgbClr val="E9E6FA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10121" cy="2650109"/>
            </a:xfrm>
            <a:custGeom>
              <a:avLst/>
              <a:gdLst/>
              <a:ahLst/>
              <a:cxnLst/>
              <a:rect r="r" b="b" t="t" l="l"/>
              <a:pathLst>
                <a:path h="2650109" w="6810121">
                  <a:moveTo>
                    <a:pt x="0" y="132842"/>
                  </a:moveTo>
                  <a:cubicBezTo>
                    <a:pt x="0" y="59436"/>
                    <a:pt x="59690" y="0"/>
                    <a:pt x="133223" y="0"/>
                  </a:cubicBezTo>
                  <a:lnTo>
                    <a:pt x="6676898" y="0"/>
                  </a:lnTo>
                  <a:lnTo>
                    <a:pt x="6676898" y="6350"/>
                  </a:lnTo>
                  <a:lnTo>
                    <a:pt x="6676898" y="0"/>
                  </a:lnTo>
                  <a:cubicBezTo>
                    <a:pt x="6750431" y="0"/>
                    <a:pt x="6810121" y="59436"/>
                    <a:pt x="6810121" y="132842"/>
                  </a:cubicBezTo>
                  <a:lnTo>
                    <a:pt x="6803771" y="132842"/>
                  </a:lnTo>
                  <a:lnTo>
                    <a:pt x="6810121" y="132842"/>
                  </a:lnTo>
                  <a:lnTo>
                    <a:pt x="6810121" y="2517267"/>
                  </a:lnTo>
                  <a:lnTo>
                    <a:pt x="6803771" y="2517267"/>
                  </a:lnTo>
                  <a:lnTo>
                    <a:pt x="6810121" y="2517267"/>
                  </a:lnTo>
                  <a:cubicBezTo>
                    <a:pt x="6810121" y="2590673"/>
                    <a:pt x="6750431" y="2650109"/>
                    <a:pt x="6676898" y="2650109"/>
                  </a:cubicBezTo>
                  <a:lnTo>
                    <a:pt x="6676898" y="2643759"/>
                  </a:lnTo>
                  <a:lnTo>
                    <a:pt x="6676898" y="2650109"/>
                  </a:lnTo>
                  <a:lnTo>
                    <a:pt x="133223" y="2650109"/>
                  </a:lnTo>
                  <a:lnTo>
                    <a:pt x="133223" y="2643759"/>
                  </a:lnTo>
                  <a:lnTo>
                    <a:pt x="133223" y="2650109"/>
                  </a:lnTo>
                  <a:cubicBezTo>
                    <a:pt x="59690" y="2650109"/>
                    <a:pt x="0" y="2590673"/>
                    <a:pt x="0" y="2517267"/>
                  </a:cubicBezTo>
                  <a:lnTo>
                    <a:pt x="0" y="132842"/>
                  </a:lnTo>
                  <a:lnTo>
                    <a:pt x="6350" y="132842"/>
                  </a:lnTo>
                  <a:lnTo>
                    <a:pt x="0" y="132842"/>
                  </a:lnTo>
                  <a:moveTo>
                    <a:pt x="12700" y="132842"/>
                  </a:moveTo>
                  <a:lnTo>
                    <a:pt x="12700" y="2517267"/>
                  </a:lnTo>
                  <a:lnTo>
                    <a:pt x="6350" y="2517267"/>
                  </a:lnTo>
                  <a:lnTo>
                    <a:pt x="12700" y="2517267"/>
                  </a:lnTo>
                  <a:cubicBezTo>
                    <a:pt x="12700" y="2583561"/>
                    <a:pt x="66675" y="2637409"/>
                    <a:pt x="133223" y="2637409"/>
                  </a:cubicBezTo>
                  <a:lnTo>
                    <a:pt x="6676898" y="2637409"/>
                  </a:lnTo>
                  <a:cubicBezTo>
                    <a:pt x="6743446" y="2637409"/>
                    <a:pt x="6797421" y="2583561"/>
                    <a:pt x="6797421" y="2517267"/>
                  </a:cubicBezTo>
                  <a:lnTo>
                    <a:pt x="6797421" y="132842"/>
                  </a:lnTo>
                  <a:cubicBezTo>
                    <a:pt x="6797421" y="66548"/>
                    <a:pt x="6743446" y="12700"/>
                    <a:pt x="6676898" y="12700"/>
                  </a:cubicBezTo>
                  <a:lnTo>
                    <a:pt x="133223" y="12700"/>
                  </a:lnTo>
                  <a:lnTo>
                    <a:pt x="133223" y="6350"/>
                  </a:lnTo>
                  <a:lnTo>
                    <a:pt x="133223" y="12700"/>
                  </a:lnTo>
                  <a:cubicBezTo>
                    <a:pt x="66675" y="12700"/>
                    <a:pt x="12700" y="66548"/>
                    <a:pt x="12700" y="132842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085587" y="5765902"/>
            <a:ext cx="2824162" cy="381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0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Top Predictors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085587" y="6270279"/>
            <a:ext cx="4627216" cy="1031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Hospital admissions (β large), Medication count, Smoker, Previous year cost, highly significant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845376" y="7712269"/>
            <a:ext cx="5107638" cy="1662855"/>
            <a:chOff x="0" y="0"/>
            <a:chExt cx="6810184" cy="221714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6350" y="6350"/>
              <a:ext cx="6797421" cy="2204339"/>
            </a:xfrm>
            <a:custGeom>
              <a:avLst/>
              <a:gdLst/>
              <a:ahLst/>
              <a:cxnLst/>
              <a:rect r="r" b="b" t="t" l="l"/>
              <a:pathLst>
                <a:path h="2204339" w="6797421">
                  <a:moveTo>
                    <a:pt x="0" y="126492"/>
                  </a:moveTo>
                  <a:cubicBezTo>
                    <a:pt x="0" y="56642"/>
                    <a:pt x="56896" y="0"/>
                    <a:pt x="127000" y="0"/>
                  </a:cubicBezTo>
                  <a:lnTo>
                    <a:pt x="6670421" y="0"/>
                  </a:lnTo>
                  <a:cubicBezTo>
                    <a:pt x="6740525" y="0"/>
                    <a:pt x="6797421" y="56642"/>
                    <a:pt x="6797421" y="126492"/>
                  </a:cubicBezTo>
                  <a:lnTo>
                    <a:pt x="6797421" y="2077847"/>
                  </a:lnTo>
                  <a:cubicBezTo>
                    <a:pt x="6797421" y="2147697"/>
                    <a:pt x="6740525" y="2204339"/>
                    <a:pt x="6670421" y="2204339"/>
                  </a:cubicBezTo>
                  <a:lnTo>
                    <a:pt x="127000" y="2204339"/>
                  </a:lnTo>
                  <a:cubicBezTo>
                    <a:pt x="56896" y="2204339"/>
                    <a:pt x="0" y="2147697"/>
                    <a:pt x="0" y="2077847"/>
                  </a:cubicBezTo>
                  <a:close/>
                </a:path>
              </a:pathLst>
            </a:custGeom>
            <a:solidFill>
              <a:srgbClr val="E9E6FA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810121" cy="2217039"/>
            </a:xfrm>
            <a:custGeom>
              <a:avLst/>
              <a:gdLst/>
              <a:ahLst/>
              <a:cxnLst/>
              <a:rect r="r" b="b" t="t" l="l"/>
              <a:pathLst>
                <a:path h="2217039" w="6810121">
                  <a:moveTo>
                    <a:pt x="0" y="132842"/>
                  </a:moveTo>
                  <a:cubicBezTo>
                    <a:pt x="0" y="59436"/>
                    <a:pt x="59690" y="0"/>
                    <a:pt x="133350" y="0"/>
                  </a:cubicBezTo>
                  <a:lnTo>
                    <a:pt x="6676771" y="0"/>
                  </a:lnTo>
                  <a:lnTo>
                    <a:pt x="6676771" y="6350"/>
                  </a:lnTo>
                  <a:lnTo>
                    <a:pt x="6676771" y="0"/>
                  </a:lnTo>
                  <a:cubicBezTo>
                    <a:pt x="6750431" y="0"/>
                    <a:pt x="6810121" y="59436"/>
                    <a:pt x="6810121" y="132842"/>
                  </a:cubicBezTo>
                  <a:lnTo>
                    <a:pt x="6803771" y="132842"/>
                  </a:lnTo>
                  <a:lnTo>
                    <a:pt x="6810121" y="132842"/>
                  </a:lnTo>
                  <a:lnTo>
                    <a:pt x="6810121" y="2084197"/>
                  </a:lnTo>
                  <a:lnTo>
                    <a:pt x="6803771" y="2084197"/>
                  </a:lnTo>
                  <a:lnTo>
                    <a:pt x="6810121" y="2084197"/>
                  </a:lnTo>
                  <a:cubicBezTo>
                    <a:pt x="6810121" y="2157603"/>
                    <a:pt x="6750431" y="2217039"/>
                    <a:pt x="6676771" y="2217039"/>
                  </a:cubicBezTo>
                  <a:lnTo>
                    <a:pt x="6676771" y="2210689"/>
                  </a:lnTo>
                  <a:lnTo>
                    <a:pt x="6676771" y="2217039"/>
                  </a:lnTo>
                  <a:lnTo>
                    <a:pt x="133350" y="2217039"/>
                  </a:lnTo>
                  <a:lnTo>
                    <a:pt x="133350" y="2210689"/>
                  </a:lnTo>
                  <a:lnTo>
                    <a:pt x="133350" y="2217039"/>
                  </a:lnTo>
                  <a:cubicBezTo>
                    <a:pt x="59690" y="2217166"/>
                    <a:pt x="0" y="2157730"/>
                    <a:pt x="0" y="2084197"/>
                  </a:cubicBezTo>
                  <a:lnTo>
                    <a:pt x="0" y="132842"/>
                  </a:lnTo>
                  <a:lnTo>
                    <a:pt x="6350" y="132842"/>
                  </a:lnTo>
                  <a:lnTo>
                    <a:pt x="0" y="132842"/>
                  </a:lnTo>
                  <a:moveTo>
                    <a:pt x="12700" y="132842"/>
                  </a:moveTo>
                  <a:lnTo>
                    <a:pt x="12700" y="2084197"/>
                  </a:lnTo>
                  <a:lnTo>
                    <a:pt x="6350" y="2084197"/>
                  </a:lnTo>
                  <a:lnTo>
                    <a:pt x="12700" y="2084197"/>
                  </a:lnTo>
                  <a:cubicBezTo>
                    <a:pt x="12700" y="2150491"/>
                    <a:pt x="66675" y="2204339"/>
                    <a:pt x="133350" y="2204339"/>
                  </a:cubicBezTo>
                  <a:lnTo>
                    <a:pt x="6676771" y="2204339"/>
                  </a:lnTo>
                  <a:cubicBezTo>
                    <a:pt x="6743446" y="2204339"/>
                    <a:pt x="6797421" y="2150491"/>
                    <a:pt x="6797421" y="2084197"/>
                  </a:cubicBezTo>
                  <a:lnTo>
                    <a:pt x="6797421" y="132842"/>
                  </a:lnTo>
                  <a:cubicBezTo>
                    <a:pt x="6797421" y="66548"/>
                    <a:pt x="6743446" y="12700"/>
                    <a:pt x="6676771" y="12700"/>
                  </a:cubicBezTo>
                  <a:lnTo>
                    <a:pt x="133350" y="12700"/>
                  </a:lnTo>
                  <a:lnTo>
                    <a:pt x="133350" y="6350"/>
                  </a:lnTo>
                  <a:lnTo>
                    <a:pt x="133350" y="12700"/>
                  </a:lnTo>
                  <a:cubicBezTo>
                    <a:pt x="66675" y="12700"/>
                    <a:pt x="12700" y="66548"/>
                    <a:pt x="12700" y="132842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085587" y="7923905"/>
            <a:ext cx="2824162" cy="381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0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Assumptions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085587" y="8428282"/>
            <a:ext cx="4627216" cy="706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Heteroscedasticity detected → robust SEs advised; Durbin‑Watson ≈ 1.95; low VIFs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168298"/>
            <a:ext cx="8659863" cy="952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5500" b="true">
                <a:solidFill>
                  <a:srgbClr val="231971"/>
                </a:solidFill>
                <a:latin typeface="Arimo Bold"/>
                <a:ea typeface="Arimo Bold"/>
                <a:cs typeface="Arimo Bold"/>
                <a:sym typeface="Arimo Bold"/>
              </a:rPr>
              <a:t>Nonparametric Validation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2865091"/>
            <a:ext cx="10355161" cy="5867848"/>
            <a:chOff x="0" y="0"/>
            <a:chExt cx="13806881" cy="7823797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3806932" cy="7823835"/>
            </a:xfrm>
            <a:custGeom>
              <a:avLst/>
              <a:gdLst/>
              <a:ahLst/>
              <a:cxnLst/>
              <a:rect r="r" b="b" t="t" l="l"/>
              <a:pathLst>
                <a:path h="7823835" w="13806932">
                  <a:moveTo>
                    <a:pt x="0" y="0"/>
                  </a:moveTo>
                  <a:lnTo>
                    <a:pt x="13806932" y="0"/>
                  </a:lnTo>
                  <a:lnTo>
                    <a:pt x="13806932" y="7823835"/>
                  </a:lnTo>
                  <a:lnTo>
                    <a:pt x="0" y="7823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" r="0" b="-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048677" y="3309347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231971"/>
                </a:solidFill>
                <a:latin typeface="Arimo Bold"/>
                <a:ea typeface="Arimo Bold"/>
                <a:cs typeface="Arimo Bold"/>
                <a:sym typeface="Arimo Bold"/>
              </a:rPr>
              <a:t>Findings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48677" y="3959571"/>
            <a:ext cx="5256457" cy="4484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3500"/>
              </a:lnSpc>
              <a:buFont typeface="Arial"/>
              <a:buChar char="•"/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Mann‑Whitney: Smokers &gt; Non‑smokers (significant)</a:t>
            </a:r>
          </a:p>
          <a:p>
            <a:pPr algn="l" marL="530860" indent="-265430" lvl="1">
              <a:lnSpc>
                <a:spcPts val="3500"/>
              </a:lnSpc>
              <a:buFont typeface="Arial"/>
              <a:buChar char="•"/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Kruskal‑Wallis: Costs differ across insurance types (significant)</a:t>
            </a:r>
          </a:p>
          <a:p>
            <a:pPr algn="l" marL="530860" indent="-265430" lvl="1">
              <a:lnSpc>
                <a:spcPts val="3500"/>
              </a:lnSpc>
              <a:buFont typeface="Arial"/>
              <a:buChar char="•"/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Spearman: Hospital admissions (ρ≈0.368) and medication count strong monotonic predictors</a:t>
            </a:r>
          </a:p>
          <a:p>
            <a:pPr algn="l" marL="530860" indent="-265430" lvl="1">
              <a:lnSpc>
                <a:spcPts val="3500"/>
              </a:lnSpc>
              <a:buFont typeface="Arial"/>
              <a:buChar char="•"/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Chi‑Square: Smoking × Insurance independent (fail to reject H₀)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994324"/>
            <a:ext cx="9445523" cy="183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5500" b="true">
                <a:solidFill>
                  <a:srgbClr val="231971"/>
                </a:solidFill>
                <a:latin typeface="Arimo Bold"/>
                <a:ea typeface="Arimo Bold"/>
                <a:cs typeface="Arimo Bold"/>
                <a:sym typeface="Arimo Bold"/>
              </a:rPr>
              <a:t>Interpretation &amp; Policy Implications</a:t>
            </a:r>
          </a:p>
        </p:txBody>
      </p:sp>
      <p:sp>
        <p:nvSpPr>
          <p:cNvPr name="Freeform 9" id="9" descr="preencoded.png"/>
          <p:cNvSpPr/>
          <p:nvPr/>
        </p:nvSpPr>
        <p:spPr>
          <a:xfrm flipH="false" flipV="false" rot="0">
            <a:off x="7850238" y="3258150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2000" t="0" r="-1200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913314" y="3229575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Target Smoking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13314" y="3766395"/>
            <a:ext cx="8382448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High‑impact: smoking cessation programs to reduce costs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7850238" y="4891830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8"/>
                </a:lnTo>
                <a:lnTo>
                  <a:pt x="0" y="7087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1333" t="0" r="-11333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913314" y="4863255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Prevent Admissions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13314" y="5400075"/>
            <a:ext cx="8382448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Reduce avoidable hospitalizations; largest cost driver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7850238" y="6525520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8"/>
                </a:lnTo>
                <a:lnTo>
                  <a:pt x="0" y="7087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7332" r="0" b="-7334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913314" y="6496945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Promote Activity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13314" y="7033765"/>
            <a:ext cx="8382448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Physical activity linked to lower mean costs; prevention programs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7850238" y="8159201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4666" t="0" r="-4667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913314" y="8130626"/>
            <a:ext cx="4520508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70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Actuarial Recommendation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913314" y="8667455"/>
            <a:ext cx="8382448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2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Adopt log‑normal assumptions for pricing and risk models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68261" y="664073"/>
            <a:ext cx="10520658" cy="832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0"/>
              </a:lnSpc>
            </a:pPr>
            <a:r>
              <a:rPr lang="en-US" sz="4800" b="true">
                <a:solidFill>
                  <a:srgbClr val="231971"/>
                </a:solidFill>
                <a:latin typeface="Arimo Bold"/>
                <a:ea typeface="Arimo Bold"/>
                <a:cs typeface="Arimo Bold"/>
                <a:sym typeface="Arimo Bold"/>
              </a:rPr>
              <a:t>Limitations, Next Steps &amp; Conclusion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53973" y="2051599"/>
            <a:ext cx="5428212" cy="1930451"/>
            <a:chOff x="0" y="0"/>
            <a:chExt cx="7237616" cy="257393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9050" y="19050"/>
              <a:ext cx="7199502" cy="2535809"/>
            </a:xfrm>
            <a:custGeom>
              <a:avLst/>
              <a:gdLst/>
              <a:ahLst/>
              <a:cxnLst/>
              <a:rect r="r" b="b" t="t" l="l"/>
              <a:pathLst>
                <a:path h="2535809" w="7199502">
                  <a:moveTo>
                    <a:pt x="0" y="182880"/>
                  </a:moveTo>
                  <a:cubicBezTo>
                    <a:pt x="0" y="81915"/>
                    <a:pt x="82677" y="0"/>
                    <a:pt x="184658" y="0"/>
                  </a:cubicBezTo>
                  <a:lnTo>
                    <a:pt x="7014845" y="0"/>
                  </a:lnTo>
                  <a:cubicBezTo>
                    <a:pt x="7116826" y="0"/>
                    <a:pt x="7199502" y="81915"/>
                    <a:pt x="7199502" y="182880"/>
                  </a:cubicBezTo>
                  <a:lnTo>
                    <a:pt x="7199502" y="2352929"/>
                  </a:lnTo>
                  <a:cubicBezTo>
                    <a:pt x="7199502" y="2453894"/>
                    <a:pt x="7116826" y="2535809"/>
                    <a:pt x="7014845" y="2535809"/>
                  </a:cubicBezTo>
                  <a:lnTo>
                    <a:pt x="184658" y="2535809"/>
                  </a:lnTo>
                  <a:cubicBezTo>
                    <a:pt x="82677" y="2535809"/>
                    <a:pt x="0" y="2453894"/>
                    <a:pt x="0" y="2352929"/>
                  </a:cubicBez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237602" cy="2573909"/>
            </a:xfrm>
            <a:custGeom>
              <a:avLst/>
              <a:gdLst/>
              <a:ahLst/>
              <a:cxnLst/>
              <a:rect r="r" b="b" t="t" l="l"/>
              <a:pathLst>
                <a:path h="2573909" w="7237602">
                  <a:moveTo>
                    <a:pt x="0" y="201930"/>
                  </a:moveTo>
                  <a:cubicBezTo>
                    <a:pt x="0" y="90297"/>
                    <a:pt x="91313" y="0"/>
                    <a:pt x="203708" y="0"/>
                  </a:cubicBezTo>
                  <a:lnTo>
                    <a:pt x="7033895" y="0"/>
                  </a:lnTo>
                  <a:lnTo>
                    <a:pt x="7033895" y="19050"/>
                  </a:lnTo>
                  <a:lnTo>
                    <a:pt x="7033895" y="0"/>
                  </a:lnTo>
                  <a:cubicBezTo>
                    <a:pt x="7146163" y="0"/>
                    <a:pt x="7237602" y="90297"/>
                    <a:pt x="7237602" y="201930"/>
                  </a:cubicBezTo>
                  <a:lnTo>
                    <a:pt x="7218552" y="201930"/>
                  </a:lnTo>
                  <a:lnTo>
                    <a:pt x="7237602" y="201930"/>
                  </a:lnTo>
                  <a:lnTo>
                    <a:pt x="7237602" y="2371979"/>
                  </a:lnTo>
                  <a:lnTo>
                    <a:pt x="7218552" y="2371979"/>
                  </a:lnTo>
                  <a:lnTo>
                    <a:pt x="7237602" y="2371979"/>
                  </a:lnTo>
                  <a:cubicBezTo>
                    <a:pt x="7237602" y="2483739"/>
                    <a:pt x="7146289" y="2573909"/>
                    <a:pt x="7033895" y="2573909"/>
                  </a:cubicBezTo>
                  <a:lnTo>
                    <a:pt x="7033895" y="2554859"/>
                  </a:lnTo>
                  <a:lnTo>
                    <a:pt x="7033895" y="2573909"/>
                  </a:lnTo>
                  <a:lnTo>
                    <a:pt x="203708" y="2573909"/>
                  </a:lnTo>
                  <a:lnTo>
                    <a:pt x="203708" y="2554859"/>
                  </a:lnTo>
                  <a:lnTo>
                    <a:pt x="203708" y="2573909"/>
                  </a:lnTo>
                  <a:cubicBezTo>
                    <a:pt x="91313" y="2573909"/>
                    <a:pt x="0" y="2483739"/>
                    <a:pt x="0" y="237197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371979"/>
                  </a:lnTo>
                  <a:lnTo>
                    <a:pt x="19050" y="2371979"/>
                  </a:lnTo>
                  <a:lnTo>
                    <a:pt x="38100" y="2371979"/>
                  </a:lnTo>
                  <a:cubicBezTo>
                    <a:pt x="38100" y="2462276"/>
                    <a:pt x="112014" y="2535809"/>
                    <a:pt x="203708" y="2535809"/>
                  </a:cubicBezTo>
                  <a:lnTo>
                    <a:pt x="7033895" y="2535809"/>
                  </a:lnTo>
                  <a:cubicBezTo>
                    <a:pt x="7125588" y="2535809"/>
                    <a:pt x="7199502" y="2462276"/>
                    <a:pt x="7199502" y="2371979"/>
                  </a:cubicBezTo>
                  <a:lnTo>
                    <a:pt x="7199502" y="201930"/>
                  </a:lnTo>
                  <a:cubicBezTo>
                    <a:pt x="7199502" y="111633"/>
                    <a:pt x="7125588" y="38100"/>
                    <a:pt x="7033895" y="38100"/>
                  </a:cubicBezTo>
                  <a:lnTo>
                    <a:pt x="203708" y="38100"/>
                  </a:lnTo>
                  <a:lnTo>
                    <a:pt x="203708" y="19050"/>
                  </a:lnTo>
                  <a:lnTo>
                    <a:pt x="203708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39686" y="2065887"/>
            <a:ext cx="114300" cy="1901876"/>
            <a:chOff x="0" y="0"/>
            <a:chExt cx="152400" cy="25358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400" cy="2535809"/>
            </a:xfrm>
            <a:custGeom>
              <a:avLst/>
              <a:gdLst/>
              <a:ahLst/>
              <a:cxnLst/>
              <a:rect r="r" b="b" t="t" l="l"/>
              <a:pathLst>
                <a:path h="2535809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459609"/>
                  </a:lnTo>
                  <a:cubicBezTo>
                    <a:pt x="152400" y="2501646"/>
                    <a:pt x="118237" y="2535809"/>
                    <a:pt x="76200" y="2535809"/>
                  </a:cubicBezTo>
                  <a:cubicBezTo>
                    <a:pt x="34163" y="2535809"/>
                    <a:pt x="0" y="2501646"/>
                    <a:pt x="0" y="2459609"/>
                  </a:cubicBezTo>
                  <a:close/>
                </a:path>
              </a:pathLst>
            </a:custGeom>
            <a:solidFill>
              <a:srgbClr val="5E4CE6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30506" y="2313832"/>
            <a:ext cx="3101130" cy="41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Limitations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0506" y="2880417"/>
            <a:ext cx="4760862" cy="810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19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Cross‑sectional data; self‑reported lifestyle measures; heteroscedastic residuals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53973" y="4170464"/>
            <a:ext cx="5428212" cy="3046666"/>
            <a:chOff x="0" y="0"/>
            <a:chExt cx="7237616" cy="4062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9050" y="19050"/>
              <a:ext cx="7199503" cy="4024122"/>
            </a:xfrm>
            <a:custGeom>
              <a:avLst/>
              <a:gdLst/>
              <a:ahLst/>
              <a:cxnLst/>
              <a:rect r="r" b="b" t="t" l="l"/>
              <a:pathLst>
                <a:path h="4024122" w="7199503">
                  <a:moveTo>
                    <a:pt x="0" y="182880"/>
                  </a:moveTo>
                  <a:cubicBezTo>
                    <a:pt x="0" y="81915"/>
                    <a:pt x="82169" y="0"/>
                    <a:pt x="183642" y="0"/>
                  </a:cubicBezTo>
                  <a:lnTo>
                    <a:pt x="7015861" y="0"/>
                  </a:lnTo>
                  <a:cubicBezTo>
                    <a:pt x="7117334" y="0"/>
                    <a:pt x="7199503" y="81915"/>
                    <a:pt x="7199503" y="182880"/>
                  </a:cubicBezTo>
                  <a:lnTo>
                    <a:pt x="7199503" y="3841242"/>
                  </a:lnTo>
                  <a:cubicBezTo>
                    <a:pt x="7199503" y="3942207"/>
                    <a:pt x="7117334" y="4024122"/>
                    <a:pt x="7015861" y="4024122"/>
                  </a:cubicBezTo>
                  <a:lnTo>
                    <a:pt x="183642" y="4024122"/>
                  </a:lnTo>
                  <a:cubicBezTo>
                    <a:pt x="82169" y="4024122"/>
                    <a:pt x="0" y="3942207"/>
                    <a:pt x="0" y="3841242"/>
                  </a:cubicBez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237603" cy="4062222"/>
            </a:xfrm>
            <a:custGeom>
              <a:avLst/>
              <a:gdLst/>
              <a:ahLst/>
              <a:cxnLst/>
              <a:rect r="r" b="b" t="t" l="l"/>
              <a:pathLst>
                <a:path h="4062222" w="7237603">
                  <a:moveTo>
                    <a:pt x="0" y="201930"/>
                  </a:moveTo>
                  <a:cubicBezTo>
                    <a:pt x="0" y="90297"/>
                    <a:pt x="90805" y="0"/>
                    <a:pt x="202692" y="0"/>
                  </a:cubicBezTo>
                  <a:lnTo>
                    <a:pt x="7034911" y="0"/>
                  </a:lnTo>
                  <a:lnTo>
                    <a:pt x="7034911" y="19050"/>
                  </a:lnTo>
                  <a:lnTo>
                    <a:pt x="7034911" y="0"/>
                  </a:lnTo>
                  <a:cubicBezTo>
                    <a:pt x="7146798" y="0"/>
                    <a:pt x="7237603" y="90297"/>
                    <a:pt x="7237603" y="201930"/>
                  </a:cubicBezTo>
                  <a:lnTo>
                    <a:pt x="7218553" y="201930"/>
                  </a:lnTo>
                  <a:lnTo>
                    <a:pt x="7237603" y="201930"/>
                  </a:lnTo>
                  <a:lnTo>
                    <a:pt x="7237603" y="3860292"/>
                  </a:lnTo>
                  <a:lnTo>
                    <a:pt x="7218553" y="3860292"/>
                  </a:lnTo>
                  <a:lnTo>
                    <a:pt x="7237603" y="3860292"/>
                  </a:lnTo>
                  <a:cubicBezTo>
                    <a:pt x="7237603" y="3971925"/>
                    <a:pt x="7146798" y="4062222"/>
                    <a:pt x="7034911" y="4062222"/>
                  </a:cubicBezTo>
                  <a:lnTo>
                    <a:pt x="7034911" y="4043172"/>
                  </a:lnTo>
                  <a:lnTo>
                    <a:pt x="7034911" y="4062222"/>
                  </a:lnTo>
                  <a:lnTo>
                    <a:pt x="202692" y="4062222"/>
                  </a:lnTo>
                  <a:lnTo>
                    <a:pt x="202692" y="4043172"/>
                  </a:lnTo>
                  <a:lnTo>
                    <a:pt x="202692" y="4062222"/>
                  </a:lnTo>
                  <a:cubicBezTo>
                    <a:pt x="90805" y="4062222"/>
                    <a:pt x="0" y="3971925"/>
                    <a:pt x="0" y="3860292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3860292"/>
                  </a:lnTo>
                  <a:lnTo>
                    <a:pt x="19050" y="3860292"/>
                  </a:lnTo>
                  <a:lnTo>
                    <a:pt x="38100" y="3860292"/>
                  </a:lnTo>
                  <a:cubicBezTo>
                    <a:pt x="38100" y="3950716"/>
                    <a:pt x="111760" y="4024122"/>
                    <a:pt x="202692" y="4024122"/>
                  </a:cubicBezTo>
                  <a:lnTo>
                    <a:pt x="7034911" y="4024122"/>
                  </a:lnTo>
                  <a:cubicBezTo>
                    <a:pt x="7125843" y="4024122"/>
                    <a:pt x="7199503" y="3950716"/>
                    <a:pt x="7199503" y="3860292"/>
                  </a:cubicBezTo>
                  <a:lnTo>
                    <a:pt x="7199503" y="201930"/>
                  </a:lnTo>
                  <a:cubicBezTo>
                    <a:pt x="7199503" y="111506"/>
                    <a:pt x="7125843" y="38100"/>
                    <a:pt x="7034911" y="38100"/>
                  </a:cubicBezTo>
                  <a:lnTo>
                    <a:pt x="202692" y="38100"/>
                  </a:lnTo>
                  <a:lnTo>
                    <a:pt x="202692" y="19050"/>
                  </a:lnTo>
                  <a:lnTo>
                    <a:pt x="202692" y="38100"/>
                  </a:lnTo>
                  <a:cubicBezTo>
                    <a:pt x="111760" y="38100"/>
                    <a:pt x="38100" y="111506"/>
                    <a:pt x="38100" y="201930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39686" y="4184752"/>
            <a:ext cx="114300" cy="3018082"/>
            <a:chOff x="0" y="0"/>
            <a:chExt cx="152400" cy="402410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2400" cy="4024122"/>
            </a:xfrm>
            <a:custGeom>
              <a:avLst/>
              <a:gdLst/>
              <a:ahLst/>
              <a:cxnLst/>
              <a:rect r="r" b="b" t="t" l="l"/>
              <a:pathLst>
                <a:path h="4024122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3947922"/>
                  </a:lnTo>
                  <a:cubicBezTo>
                    <a:pt x="152400" y="3989959"/>
                    <a:pt x="118237" y="4024122"/>
                    <a:pt x="76200" y="4024122"/>
                  </a:cubicBezTo>
                  <a:cubicBezTo>
                    <a:pt x="34163" y="4024122"/>
                    <a:pt x="0" y="3989959"/>
                    <a:pt x="0" y="3947922"/>
                  </a:cubicBezTo>
                  <a:close/>
                </a:path>
              </a:pathLst>
            </a:custGeom>
            <a:solidFill>
              <a:srgbClr val="5E4CE6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30506" y="4432697"/>
            <a:ext cx="3101130" cy="41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Conclusion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0506" y="4999282"/>
            <a:ext cx="4760862" cy="1927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19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Insurance type, smoking, hospital admissions, medication count, and prior cost are primary determinants. Findings guide targeted interventions and pricing assumptions.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53973" y="7405535"/>
            <a:ext cx="5428212" cy="1930451"/>
            <a:chOff x="0" y="0"/>
            <a:chExt cx="7237616" cy="257393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9050" y="19050"/>
              <a:ext cx="7199502" cy="2535809"/>
            </a:xfrm>
            <a:custGeom>
              <a:avLst/>
              <a:gdLst/>
              <a:ahLst/>
              <a:cxnLst/>
              <a:rect r="r" b="b" t="t" l="l"/>
              <a:pathLst>
                <a:path h="2535809" w="7199502">
                  <a:moveTo>
                    <a:pt x="0" y="182880"/>
                  </a:moveTo>
                  <a:cubicBezTo>
                    <a:pt x="0" y="81915"/>
                    <a:pt x="82677" y="0"/>
                    <a:pt x="184658" y="0"/>
                  </a:cubicBezTo>
                  <a:lnTo>
                    <a:pt x="7014845" y="0"/>
                  </a:lnTo>
                  <a:cubicBezTo>
                    <a:pt x="7116826" y="0"/>
                    <a:pt x="7199502" y="81915"/>
                    <a:pt x="7199502" y="182880"/>
                  </a:cubicBezTo>
                  <a:lnTo>
                    <a:pt x="7199502" y="2352929"/>
                  </a:lnTo>
                  <a:cubicBezTo>
                    <a:pt x="7199502" y="2453894"/>
                    <a:pt x="7116826" y="2535809"/>
                    <a:pt x="7014845" y="2535809"/>
                  </a:cubicBezTo>
                  <a:lnTo>
                    <a:pt x="184658" y="2535809"/>
                  </a:lnTo>
                  <a:cubicBezTo>
                    <a:pt x="82677" y="2535809"/>
                    <a:pt x="0" y="2453894"/>
                    <a:pt x="0" y="2352929"/>
                  </a:cubicBezTo>
                  <a:close/>
                </a:path>
              </a:pathLst>
            </a:custGeom>
            <a:solidFill>
              <a:srgbClr val="FAFAFA">
                <a:alpha val="90196"/>
              </a:srgbClr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237602" cy="2573909"/>
            </a:xfrm>
            <a:custGeom>
              <a:avLst/>
              <a:gdLst/>
              <a:ahLst/>
              <a:cxnLst/>
              <a:rect r="r" b="b" t="t" l="l"/>
              <a:pathLst>
                <a:path h="2573909" w="7237602">
                  <a:moveTo>
                    <a:pt x="0" y="201930"/>
                  </a:moveTo>
                  <a:cubicBezTo>
                    <a:pt x="0" y="90297"/>
                    <a:pt x="91313" y="0"/>
                    <a:pt x="203708" y="0"/>
                  </a:cubicBezTo>
                  <a:lnTo>
                    <a:pt x="7033895" y="0"/>
                  </a:lnTo>
                  <a:lnTo>
                    <a:pt x="7033895" y="19050"/>
                  </a:lnTo>
                  <a:lnTo>
                    <a:pt x="7033895" y="0"/>
                  </a:lnTo>
                  <a:cubicBezTo>
                    <a:pt x="7146163" y="0"/>
                    <a:pt x="7237602" y="90297"/>
                    <a:pt x="7237602" y="201930"/>
                  </a:cubicBezTo>
                  <a:lnTo>
                    <a:pt x="7218552" y="201930"/>
                  </a:lnTo>
                  <a:lnTo>
                    <a:pt x="7237602" y="201930"/>
                  </a:lnTo>
                  <a:lnTo>
                    <a:pt x="7237602" y="2371979"/>
                  </a:lnTo>
                  <a:lnTo>
                    <a:pt x="7218552" y="2371979"/>
                  </a:lnTo>
                  <a:lnTo>
                    <a:pt x="7237602" y="2371979"/>
                  </a:lnTo>
                  <a:cubicBezTo>
                    <a:pt x="7237602" y="2483739"/>
                    <a:pt x="7146289" y="2573909"/>
                    <a:pt x="7033895" y="2573909"/>
                  </a:cubicBezTo>
                  <a:lnTo>
                    <a:pt x="7033895" y="2554859"/>
                  </a:lnTo>
                  <a:lnTo>
                    <a:pt x="7033895" y="2573909"/>
                  </a:lnTo>
                  <a:lnTo>
                    <a:pt x="203708" y="2573909"/>
                  </a:lnTo>
                  <a:lnTo>
                    <a:pt x="203708" y="2554859"/>
                  </a:lnTo>
                  <a:lnTo>
                    <a:pt x="203708" y="2573909"/>
                  </a:lnTo>
                  <a:cubicBezTo>
                    <a:pt x="91313" y="2573909"/>
                    <a:pt x="0" y="2483739"/>
                    <a:pt x="0" y="237197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371979"/>
                  </a:lnTo>
                  <a:lnTo>
                    <a:pt x="19050" y="2371979"/>
                  </a:lnTo>
                  <a:lnTo>
                    <a:pt x="38100" y="2371979"/>
                  </a:lnTo>
                  <a:cubicBezTo>
                    <a:pt x="38100" y="2462276"/>
                    <a:pt x="112014" y="2535809"/>
                    <a:pt x="203708" y="2535809"/>
                  </a:cubicBezTo>
                  <a:lnTo>
                    <a:pt x="7033895" y="2535809"/>
                  </a:lnTo>
                  <a:cubicBezTo>
                    <a:pt x="7125588" y="2535809"/>
                    <a:pt x="7199502" y="2462276"/>
                    <a:pt x="7199502" y="2371979"/>
                  </a:cubicBezTo>
                  <a:lnTo>
                    <a:pt x="7199502" y="201930"/>
                  </a:lnTo>
                  <a:cubicBezTo>
                    <a:pt x="7199502" y="111633"/>
                    <a:pt x="7125588" y="38100"/>
                    <a:pt x="7033895" y="38100"/>
                  </a:cubicBezTo>
                  <a:lnTo>
                    <a:pt x="203708" y="38100"/>
                  </a:lnTo>
                  <a:lnTo>
                    <a:pt x="203708" y="19050"/>
                  </a:lnTo>
                  <a:lnTo>
                    <a:pt x="203708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39686" y="7419823"/>
            <a:ext cx="114300" cy="1901876"/>
            <a:chOff x="0" y="0"/>
            <a:chExt cx="152400" cy="253583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2400" cy="2535809"/>
            </a:xfrm>
            <a:custGeom>
              <a:avLst/>
              <a:gdLst/>
              <a:ahLst/>
              <a:cxnLst/>
              <a:rect r="r" b="b" t="t" l="l"/>
              <a:pathLst>
                <a:path h="2535809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459609"/>
                  </a:lnTo>
                  <a:cubicBezTo>
                    <a:pt x="152400" y="2501646"/>
                    <a:pt x="118237" y="2535809"/>
                    <a:pt x="76200" y="2535809"/>
                  </a:cubicBezTo>
                  <a:cubicBezTo>
                    <a:pt x="34163" y="2535809"/>
                    <a:pt x="0" y="2501646"/>
                    <a:pt x="0" y="2459609"/>
                  </a:cubicBezTo>
                  <a:close/>
                </a:path>
              </a:pathLst>
            </a:custGeom>
            <a:solidFill>
              <a:srgbClr val="5E4CE6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230506" y="7667777"/>
            <a:ext cx="3101130" cy="41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b="true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Next Steps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30506" y="8234363"/>
            <a:ext cx="4760862" cy="810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19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Stratified regressions, clustering to identify patient profiles.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882555" y="2421884"/>
            <a:ext cx="10546556" cy="5976337"/>
            <a:chOff x="0" y="0"/>
            <a:chExt cx="14062075" cy="796845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14062075" cy="7968488"/>
            </a:xfrm>
            <a:custGeom>
              <a:avLst/>
              <a:gdLst/>
              <a:ahLst/>
              <a:cxnLst/>
              <a:rect r="r" b="b" t="t" l="l"/>
              <a:pathLst>
                <a:path h="7968488" w="14062075">
                  <a:moveTo>
                    <a:pt x="0" y="0"/>
                  </a:moveTo>
                  <a:lnTo>
                    <a:pt x="14062075" y="0"/>
                  </a:lnTo>
                  <a:lnTo>
                    <a:pt x="14062075" y="7968488"/>
                  </a:lnTo>
                  <a:lnTo>
                    <a:pt x="0" y="7968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3" t="0" r="-23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DAHI0G0eKlE</dc:identifier>
  <dcterms:modified xsi:type="dcterms:W3CDTF">2011-08-01T06:04:30Z</dcterms:modified>
  <cp:revision>1</cp:revision>
  <dc:title>Medical-Cost-Prediction.pptx</dc:title>
</cp:coreProperties>
</file>